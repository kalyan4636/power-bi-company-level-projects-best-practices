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353" r:id="rId2"/>
  </p:sldIdLst>
  <p:sldSz cx="9906000" cy="6858000" type="A4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390" userDrawn="1">
          <p15:clr>
            <a:srgbClr val="A4A3A4"/>
          </p15:clr>
        </p15:guide>
        <p15:guide id="4" pos="285" userDrawn="1">
          <p15:clr>
            <a:srgbClr val="A4A3A4"/>
          </p15:clr>
        </p15:guide>
        <p15:guide id="5" orient="horz" pos="3090" userDrawn="1">
          <p15:clr>
            <a:srgbClr val="A4A3A4"/>
          </p15:clr>
        </p15:guide>
        <p15:guide id="7" orient="horz" pos="2273" userDrawn="1">
          <p15:clr>
            <a:srgbClr val="A4A3A4"/>
          </p15:clr>
        </p15:guide>
        <p15:guide id="8" pos="3364" userDrawn="1">
          <p15:clr>
            <a:srgbClr val="A4A3A4"/>
          </p15:clr>
        </p15:guide>
        <p15:guide id="9" orient="horz" pos="686" userDrawn="1">
          <p15:clr>
            <a:srgbClr val="A4A3A4"/>
          </p15:clr>
        </p15:guide>
        <p15:guide id="10" pos="4437" userDrawn="1">
          <p15:clr>
            <a:srgbClr val="A4A3A4"/>
          </p15:clr>
        </p15:guide>
        <p15:guide id="11" orient="horz" pos="2773" userDrawn="1">
          <p15:clr>
            <a:srgbClr val="A4A3A4"/>
          </p15:clr>
        </p15:guide>
        <p15:guide id="12" orient="horz" pos="1412" userDrawn="1">
          <p15:clr>
            <a:srgbClr val="A4A3A4"/>
          </p15:clr>
        </p15:guide>
        <p15:guide id="13" orient="horz" pos="2432" userDrawn="1">
          <p15:clr>
            <a:srgbClr val="A4A3A4"/>
          </p15:clr>
        </p15:guide>
        <p15:guide id="14" orient="horz" pos="2005" userDrawn="1">
          <p15:clr>
            <a:srgbClr val="A4A3A4"/>
          </p15:clr>
        </p15:guide>
        <p15:guide id="15" orient="horz" pos="932" userDrawn="1">
          <p15:clr>
            <a:srgbClr val="A4A3A4"/>
          </p15:clr>
        </p15:guide>
        <p15:guide id="16" pos="1010" userDrawn="1">
          <p15:clr>
            <a:srgbClr val="A4A3A4"/>
          </p15:clr>
        </p15:guide>
        <p15:guide id="17" pos="1828" userDrawn="1">
          <p15:clr>
            <a:srgbClr val="A4A3A4"/>
          </p15:clr>
        </p15:guide>
        <p15:guide id="18" pos="4907" userDrawn="1">
          <p15:clr>
            <a:srgbClr val="A4A3A4"/>
          </p15:clr>
        </p15:guide>
        <p15:guide id="19" pos="818" userDrawn="1">
          <p15:clr>
            <a:srgbClr val="A4A3A4"/>
          </p15:clr>
        </p15:guide>
        <p15:guide id="20" pos="36" userDrawn="1">
          <p15:clr>
            <a:srgbClr val="A4A3A4"/>
          </p15:clr>
        </p15:guide>
        <p15:guide id="21" orient="horz" pos="3506" userDrawn="1">
          <p15:clr>
            <a:srgbClr val="A4A3A4"/>
          </p15:clr>
        </p15:guide>
        <p15:guide id="22" orient="horz" pos="3300" userDrawn="1">
          <p15:clr>
            <a:srgbClr val="A4A3A4"/>
          </p15:clr>
        </p15:guide>
        <p15:guide id="23" orient="horz" pos="41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5E5"/>
    <a:srgbClr val="FBF8FD"/>
    <a:srgbClr val="E6E8E9"/>
    <a:srgbClr val="FF0000"/>
    <a:srgbClr val="350000"/>
    <a:srgbClr val="CECCCC"/>
    <a:srgbClr val="F9F8FA"/>
    <a:srgbClr val="3D506D"/>
    <a:srgbClr val="44546A"/>
    <a:srgbClr val="CAD7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61"/>
    <p:restoredTop sz="95141"/>
  </p:normalViewPr>
  <p:slideViewPr>
    <p:cSldViewPr snapToGrid="0" snapToObjects="1">
      <p:cViewPr varScale="1">
        <p:scale>
          <a:sx n="113" d="100"/>
          <a:sy n="113" d="100"/>
        </p:scale>
        <p:origin x="1696" y="168"/>
      </p:cViewPr>
      <p:guideLst>
        <p:guide pos="5390"/>
        <p:guide pos="285"/>
        <p:guide orient="horz" pos="3090"/>
        <p:guide orient="horz" pos="2273"/>
        <p:guide pos="3364"/>
        <p:guide orient="horz" pos="686"/>
        <p:guide pos="4437"/>
        <p:guide orient="horz" pos="2773"/>
        <p:guide orient="horz" pos="1412"/>
        <p:guide orient="horz" pos="2432"/>
        <p:guide orient="horz" pos="2005"/>
        <p:guide orient="horz" pos="932"/>
        <p:guide pos="1010"/>
        <p:guide pos="1828"/>
        <p:guide pos="4907"/>
        <p:guide pos="818"/>
        <p:guide pos="36"/>
        <p:guide orient="horz" pos="3506"/>
        <p:guide orient="horz" pos="3300"/>
        <p:guide orient="horz" pos="41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timdemoures/Wimi%20Drive%20adVentures/Eloquens/ELQ%20-%20Communication%20&amp;%20Marketing%20&#128227;/30082021%20-%20Eloquens%20Best%20Practice%20Performance%20Matrix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126769472375503E-2"/>
          <c:y val="2.8075553055868022E-2"/>
          <c:w val="0.83525617815778574"/>
          <c:h val="0.88450342144731897"/>
        </c:manualLayout>
      </c:layout>
      <c:bubbleChart>
        <c:varyColors val="0"/>
        <c:ser>
          <c:idx val="1"/>
          <c:order val="0"/>
          <c:tx>
            <c:strRef>
              <c:f>'[30082021 - Eloquens Best Practice Performance Matrix.xlsx]Graph Data'!$J$8</c:f>
              <c:strCache>
                <c:ptCount val="1"/>
                <c:pt idx="0">
                  <c:v>Alpha</c:v>
                </c:pt>
              </c:strCache>
            </c:strRef>
          </c:tx>
          <c:spPr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2.6167251946692359E-2"/>
                  <c:y val="7.555000937382816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Data'!$F$8</c:f>
              <c:numCache>
                <c:formatCode>0.00</c:formatCode>
                <c:ptCount val="1"/>
                <c:pt idx="0">
                  <c:v>0.80669459769970153</c:v>
                </c:pt>
              </c:numCache>
            </c:numRef>
          </c:xVal>
          <c:yVal>
            <c:numRef>
              <c:f>'[30082021 - Eloquens Best Practice Performance Matrix.xlsx]Graph Data'!$G$8</c:f>
              <c:numCache>
                <c:formatCode>0.00</c:formatCode>
                <c:ptCount val="1"/>
                <c:pt idx="0">
                  <c:v>0.33940208700593144</c:v>
                </c:pt>
              </c:numCache>
            </c:numRef>
          </c:yVal>
          <c:bubbleSize>
            <c:numRef>
              <c:f>'[30082021 - Eloquens Best Practice Performance Matrix.xlsx]Graph Data'!$H$8</c:f>
              <c:numCache>
                <c:formatCode>0</c:formatCode>
                <c:ptCount val="1"/>
                <c:pt idx="0">
                  <c:v>19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1-7A0F-D841-A8FB-9CD0C318A955}"/>
            </c:ext>
          </c:extLst>
        </c:ser>
        <c:ser>
          <c:idx val="0"/>
          <c:order val="1"/>
          <c:tx>
            <c:strRef>
              <c:f>'[30082021 - Eloquens Best Practice Performance Matrix.xlsx]Graph Data'!$J$9</c:f>
              <c:strCache>
                <c:ptCount val="1"/>
                <c:pt idx="0">
                  <c:v>Bravo</c:v>
                </c:pt>
              </c:strCache>
            </c:strRef>
          </c:tx>
          <c:spPr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0F-D841-A8FB-9CD0C318A955}"/>
              </c:ext>
            </c:extLst>
          </c:dPt>
          <c:dLbls>
            <c:dLbl>
              <c:idx val="0"/>
              <c:layout>
                <c:manualLayout>
                  <c:x val="-0.14695312670403735"/>
                  <c:y val="-5.7300103112111096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Data'!$F$9</c:f>
              <c:numCache>
                <c:formatCode>0.00</c:formatCode>
                <c:ptCount val="1"/>
                <c:pt idx="0">
                  <c:v>0.35546867581592456</c:v>
                </c:pt>
              </c:numCache>
            </c:numRef>
          </c:xVal>
          <c:yVal>
            <c:numRef>
              <c:f>'[30082021 - Eloquens Best Practice Performance Matrix.xlsx]Graph Data'!$G$9</c:f>
              <c:numCache>
                <c:formatCode>0.00</c:formatCode>
                <c:ptCount val="1"/>
                <c:pt idx="0">
                  <c:v>0.13416956377879796</c:v>
                </c:pt>
              </c:numCache>
            </c:numRef>
          </c:yVal>
          <c:bubbleSize>
            <c:numRef>
              <c:f>'[30082021 - Eloquens Best Practice Performance Matrix.xlsx]Graph Data'!$H$9</c:f>
              <c:numCache>
                <c:formatCode>0</c:formatCode>
                <c:ptCount val="1"/>
                <c:pt idx="0">
                  <c:v>21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4-7A0F-D841-A8FB-9CD0C318A955}"/>
            </c:ext>
          </c:extLst>
        </c:ser>
        <c:ser>
          <c:idx val="2"/>
          <c:order val="2"/>
          <c:tx>
            <c:strRef>
              <c:f>'[30082021 - Eloquens Best Practice Performance Matrix.xlsx]Graph Data'!$J$10</c:f>
              <c:strCache>
                <c:ptCount val="1"/>
                <c:pt idx="0">
                  <c:v>Charlie</c:v>
                </c:pt>
              </c:strCache>
            </c:strRef>
          </c:tx>
          <c:spPr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16441954591757205"/>
                  <c:y val="-1.7661812015379286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096491609661666"/>
                      <c:h val="0.1087830064551126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Data'!$F$10</c:f>
              <c:numCache>
                <c:formatCode>0.00</c:formatCode>
                <c:ptCount val="1"/>
                <c:pt idx="0">
                  <c:v>0.68390418977658052</c:v>
                </c:pt>
              </c:numCache>
            </c:numRef>
          </c:xVal>
          <c:yVal>
            <c:numRef>
              <c:f>'[30082021 - Eloquens Best Practice Performance Matrix.xlsx]Graph Data'!$G$10</c:f>
              <c:numCache>
                <c:formatCode>0.00</c:formatCode>
                <c:ptCount val="1"/>
                <c:pt idx="0">
                  <c:v>0.46329716270786125</c:v>
                </c:pt>
              </c:numCache>
            </c:numRef>
          </c:yVal>
          <c:bubbleSize>
            <c:numRef>
              <c:f>'[30082021 - Eloquens Best Practice Performance Matrix.xlsx]Graph Data'!$H$10</c:f>
              <c:numCache>
                <c:formatCode>0</c:formatCode>
                <c:ptCount val="1"/>
                <c:pt idx="0">
                  <c:v>91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6-7A0F-D841-A8FB-9CD0C318A955}"/>
            </c:ext>
          </c:extLst>
        </c:ser>
        <c:ser>
          <c:idx val="3"/>
          <c:order val="3"/>
          <c:tx>
            <c:strRef>
              <c:f>'[30082021 - Eloquens Best Practice Performance Matrix.xlsx]Graph Data'!$J$11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7A0F-D841-A8FB-9CD0C318A955}"/>
              </c:ext>
            </c:extLst>
          </c:dPt>
          <c:dLbls>
            <c:dLbl>
              <c:idx val="0"/>
              <c:layout>
                <c:manualLayout>
                  <c:x val="-5.7216393657164551E-3"/>
                  <c:y val="-6.7952978965448016E-3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Data'!$F$11</c:f>
              <c:numCache>
                <c:formatCode>0.00</c:formatCode>
                <c:ptCount val="1"/>
                <c:pt idx="0">
                  <c:v>0.47463679567859529</c:v>
                </c:pt>
              </c:numCache>
            </c:numRef>
          </c:xVal>
          <c:yVal>
            <c:numRef>
              <c:f>'[30082021 - Eloquens Best Practice Performance Matrix.xlsx]Graph Data'!$G$11</c:f>
              <c:numCache>
                <c:formatCode>0.00</c:formatCode>
                <c:ptCount val="1"/>
                <c:pt idx="0">
                  <c:v>0.19760484521625377</c:v>
                </c:pt>
              </c:numCache>
            </c:numRef>
          </c:yVal>
          <c:bubbleSize>
            <c:numRef>
              <c:f>'[30082021 - Eloquens Best Practice Performance Matrix.xlsx]Graph Data'!$H$11</c:f>
              <c:numCache>
                <c:formatCode>0</c:formatCode>
                <c:ptCount val="1"/>
                <c:pt idx="0">
                  <c:v>27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9-7A0F-D841-A8FB-9CD0C318A955}"/>
            </c:ext>
          </c:extLst>
        </c:ser>
        <c:ser>
          <c:idx val="4"/>
          <c:order val="4"/>
          <c:tx>
            <c:strRef>
              <c:f>'[30082021 - Eloquens Best Practice Performance Matrix.xlsx]Graph Data'!$J$12</c:f>
              <c:strCache>
                <c:ptCount val="1"/>
                <c:pt idx="0">
                  <c:v>Echo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10684777629943072"/>
                  <c:y val="6.69806899137602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Data'!$F$12</c:f>
              <c:numCache>
                <c:formatCode>0.00</c:formatCode>
                <c:ptCount val="1"/>
                <c:pt idx="0">
                  <c:v>0.69046982219668973</c:v>
                </c:pt>
              </c:numCache>
            </c:numRef>
          </c:xVal>
          <c:yVal>
            <c:numRef>
              <c:f>'[30082021 - Eloquens Best Practice Performance Matrix.xlsx]Graph Data'!$G$12</c:f>
              <c:numCache>
                <c:formatCode>0.00</c:formatCode>
                <c:ptCount val="1"/>
                <c:pt idx="0">
                  <c:v>0.8387682613687002</c:v>
                </c:pt>
              </c:numCache>
            </c:numRef>
          </c:yVal>
          <c:bubbleSize>
            <c:numRef>
              <c:f>'[30082021 - Eloquens Best Practice Performance Matrix.xlsx]Graph Data'!$H$12</c:f>
              <c:numCache>
                <c:formatCode>0</c:formatCode>
                <c:ptCount val="1"/>
                <c:pt idx="0">
                  <c:v>49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B-7A0F-D841-A8FB-9CD0C318A955}"/>
            </c:ext>
          </c:extLst>
        </c:ser>
        <c:ser>
          <c:idx val="5"/>
          <c:order val="5"/>
          <c:tx>
            <c:strRef>
              <c:f>'[30082021 - Eloquens Best Practice Performance Matrix.xlsx]Graph Data'!$J$13</c:f>
              <c:strCache>
                <c:ptCount val="1"/>
                <c:pt idx="0">
                  <c:v>Foxtrot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A0F-D841-A8FB-9CD0C318A955}"/>
              </c:ext>
            </c:extLst>
          </c:dPt>
          <c:dLbls>
            <c:dLbl>
              <c:idx val="0"/>
              <c:layout>
                <c:manualLayout>
                  <c:x val="-0.15613592203093687"/>
                  <c:y val="0.1014562321154764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860259812291329"/>
                      <c:h val="0.1113749294109171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Data'!$F$13</c:f>
              <c:numCache>
                <c:formatCode>0.00</c:formatCode>
                <c:ptCount val="1"/>
                <c:pt idx="0">
                  <c:v>1.1000000000000001</c:v>
                </c:pt>
              </c:numCache>
            </c:numRef>
          </c:xVal>
          <c:yVal>
            <c:numRef>
              <c:f>'[30082021 - Eloquens Best Practice Performance Matrix.xlsx]Graph Data'!$G$13</c:f>
              <c:numCache>
                <c:formatCode>0.00</c:formatCode>
                <c:ptCount val="1"/>
                <c:pt idx="0">
                  <c:v>1.1000000000000001</c:v>
                </c:pt>
              </c:numCache>
            </c:numRef>
          </c:yVal>
          <c:bubbleSize>
            <c:numRef>
              <c:f>'[30082021 - Eloquens Best Practice Performance Matrix.xlsx]Graph Data'!$H$13</c:f>
              <c:numCache>
                <c:formatCode>0</c:formatCode>
                <c:ptCount val="1"/>
                <c:pt idx="0">
                  <c:v>47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E-7A0F-D841-A8FB-9CD0C318A955}"/>
            </c:ext>
          </c:extLst>
        </c:ser>
        <c:ser>
          <c:idx val="6"/>
          <c:order val="6"/>
          <c:tx>
            <c:strRef>
              <c:f>'[30082021 - Eloquens Best Practice Performance Matrix.xlsx]Graph Data'!$J$14</c:f>
              <c:strCache>
                <c:ptCount val="1"/>
                <c:pt idx="0">
                  <c:v>Golf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1563578860121709"/>
                  <c:y val="2.286323584551931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Data'!$F$14</c:f>
              <c:numCache>
                <c:formatCode>0.00</c:formatCode>
                <c:ptCount val="1"/>
                <c:pt idx="0">
                  <c:v>0.72170580703768616</c:v>
                </c:pt>
              </c:numCache>
            </c:numRef>
          </c:xVal>
          <c:yVal>
            <c:numRef>
              <c:f>'[30082021 - Eloquens Best Practice Performance Matrix.xlsx]Graph Data'!$G$14</c:f>
              <c:numCache>
                <c:formatCode>0.00</c:formatCode>
                <c:ptCount val="1"/>
                <c:pt idx="0">
                  <c:v>1.0977796870482202</c:v>
                </c:pt>
              </c:numCache>
            </c:numRef>
          </c:yVal>
          <c:bubbleSize>
            <c:numRef>
              <c:f>'[30082021 - Eloquens Best Practice Performance Matrix.xlsx]Graph Data'!$H$14</c:f>
              <c:numCache>
                <c:formatCode>0</c:formatCode>
                <c:ptCount val="1"/>
                <c:pt idx="0">
                  <c:v>27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0-7A0F-D841-A8FB-9CD0C318A955}"/>
            </c:ext>
          </c:extLst>
        </c:ser>
        <c:ser>
          <c:idx val="7"/>
          <c:order val="7"/>
          <c:tx>
            <c:strRef>
              <c:f>'[30082021 - Eloquens Best Practice Performance Matrix.xlsx]Graph Data'!$J$15</c:f>
              <c:strCache>
                <c:ptCount val="1"/>
                <c:pt idx="0">
                  <c:v>Hotel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1.8714419700307545E-3"/>
                  <c:y val="3.378468316460442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Data'!$F$15</c:f>
              <c:numCache>
                <c:formatCode>0.00</c:formatCode>
                <c:ptCount val="1"/>
                <c:pt idx="0">
                  <c:v>0.57936968789497145</c:v>
                </c:pt>
              </c:numCache>
            </c:numRef>
          </c:xVal>
          <c:yVal>
            <c:numRef>
              <c:f>'[30082021 - Eloquens Best Practice Performance Matrix.xlsx]Graph Data'!$G$15</c:f>
              <c:numCache>
                <c:formatCode>0.00</c:formatCode>
                <c:ptCount val="1"/>
                <c:pt idx="0">
                  <c:v>0.33940208700593144</c:v>
                </c:pt>
              </c:numCache>
            </c:numRef>
          </c:yVal>
          <c:bubbleSize>
            <c:numRef>
              <c:f>'[30082021 - Eloquens Best Practice Performance Matrix.xlsx]Graph Data'!$H$15</c:f>
              <c:numCache>
                <c:formatCode>0</c:formatCode>
                <c:ptCount val="1"/>
                <c:pt idx="0">
                  <c:v>10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2-7A0F-D841-A8FB-9CD0C318A955}"/>
            </c:ext>
          </c:extLst>
        </c:ser>
        <c:ser>
          <c:idx val="8"/>
          <c:order val="8"/>
          <c:tx>
            <c:strRef>
              <c:f>'[30082021 - Eloquens Best Practice Performance Matrix.xlsx]Graph Data'!$J$16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5.8925556743080247E-2"/>
                  <c:y val="-4.8047431571053616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Data'!$F$16</c:f>
              <c:numCache>
                <c:formatCode>0.00</c:formatCode>
                <c:ptCount val="1"/>
                <c:pt idx="0">
                  <c:v>0.1</c:v>
                </c:pt>
              </c:numCache>
            </c:numRef>
          </c:xVal>
          <c:yVal>
            <c:numRef>
              <c:f>'[30082021 - Eloquens Best Practice Performance Matrix.xlsx]Graph Data'!$G$16</c:f>
              <c:numCache>
                <c:formatCode>0.00</c:formatCode>
                <c:ptCount val="1"/>
                <c:pt idx="0">
                  <c:v>0.22801373856027121</c:v>
                </c:pt>
              </c:numCache>
            </c:numRef>
          </c:yVal>
          <c:bubbleSize>
            <c:numRef>
              <c:f>'[30082021 - Eloquens Best Practice Performance Matrix.xlsx]Graph Data'!$H$16</c:f>
              <c:numCache>
                <c:formatCode>0</c:formatCode>
                <c:ptCount val="1"/>
                <c:pt idx="0">
                  <c:v>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4-7A0F-D841-A8FB-9CD0C318A955}"/>
            </c:ext>
          </c:extLst>
        </c:ser>
        <c:ser>
          <c:idx val="9"/>
          <c:order val="9"/>
          <c:tx>
            <c:strRef>
              <c:f>'[30082021 - Eloquens Best Practice Performance Matrix.xlsx]Graph Data'!$J$17</c:f>
              <c:strCache>
                <c:ptCount val="1"/>
                <c:pt idx="0">
                  <c:v>Juliett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4.2068183305341679E-3"/>
                  <c:y val="1.06510123734533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Data'!$F$17</c:f>
              <c:numCache>
                <c:formatCode>0.00</c:formatCode>
                <c:ptCount val="1"/>
                <c:pt idx="0">
                  <c:v>0.42823061418605846</c:v>
                </c:pt>
              </c:numCache>
            </c:numRef>
          </c:xVal>
          <c:yVal>
            <c:numRef>
              <c:f>'[30082021 - Eloquens Best Practice Performance Matrix.xlsx]Graph Data'!$G$17</c:f>
              <c:numCache>
                <c:formatCode>0.00</c:formatCode>
                <c:ptCount val="1"/>
                <c:pt idx="0">
                  <c:v>0.1</c:v>
                </c:pt>
              </c:numCache>
            </c:numRef>
          </c:yVal>
          <c:bubbleSize>
            <c:numRef>
              <c:f>'[30082021 - Eloquens Best Practice Performance Matrix.xlsx]Graph Data'!$H$17</c:f>
              <c:numCache>
                <c:formatCode>0</c:formatCode>
                <c:ptCount val="1"/>
                <c:pt idx="0">
                  <c:v>18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6-7A0F-D841-A8FB-9CD0C318A955}"/>
            </c:ext>
          </c:extLst>
        </c:ser>
        <c:ser>
          <c:idx val="10"/>
          <c:order val="10"/>
          <c:tx>
            <c:strRef>
              <c:f>'[30082021 - Eloquens Best Practice Performance Matrix.xlsx]Graph Data'!$J$18</c:f>
              <c:strCache>
                <c:ptCount val="1"/>
                <c:pt idx="0">
                  <c:v>Kilo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8.6680262612602782E-2"/>
                  <c:y val="1.5841769778777654E-3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Data'!$F$18</c:f>
              <c:numCache>
                <c:formatCode>0.00</c:formatCode>
                <c:ptCount val="1"/>
                <c:pt idx="0">
                  <c:v>0.9449825750287526</c:v>
                </c:pt>
              </c:numCache>
            </c:numRef>
          </c:xVal>
          <c:yVal>
            <c:numRef>
              <c:f>'[30082021 - Eloquens Best Practice Performance Matrix.xlsx]Graph Data'!$G$18</c:f>
              <c:numCache>
                <c:formatCode>0.00</c:formatCode>
                <c:ptCount val="1"/>
                <c:pt idx="0">
                  <c:v>0.4562363094267714</c:v>
                </c:pt>
              </c:numCache>
            </c:numRef>
          </c:yVal>
          <c:bubbleSize>
            <c:numRef>
              <c:f>'[30082021 - Eloquens Best Practice Performance Matrix.xlsx]Graph Data'!$H$18</c:f>
              <c:numCache>
                <c:formatCode>0</c:formatCode>
                <c:ptCount val="1"/>
                <c:pt idx="0">
                  <c:v>48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8-7A0F-D841-A8FB-9CD0C318A955}"/>
            </c:ext>
          </c:extLst>
        </c:ser>
        <c:ser>
          <c:idx val="11"/>
          <c:order val="11"/>
          <c:tx>
            <c:strRef>
              <c:f>'[30082021 - Eloquens Best Practice Performance Matrix.xlsx]Graph Data'!$J$19</c:f>
              <c:strCache>
                <c:ptCount val="1"/>
                <c:pt idx="0">
                  <c:v>Lima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15656029838375471"/>
                  <c:y val="1.47619047619047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Data'!$F$19</c:f>
              <c:numCache>
                <c:formatCode>0.00</c:formatCode>
                <c:ptCount val="1"/>
                <c:pt idx="0">
                  <c:v>0.60826281074496313</c:v>
                </c:pt>
              </c:numCache>
            </c:numRef>
          </c:xVal>
          <c:yVal>
            <c:numRef>
              <c:f>'[30082021 - Eloquens Best Practice Performance Matrix.xlsx]Graph Data'!$G$19</c:f>
              <c:numCache>
                <c:formatCode>0.00</c:formatCode>
                <c:ptCount val="1"/>
                <c:pt idx="0">
                  <c:v>0.66586451513551881</c:v>
                </c:pt>
              </c:numCache>
            </c:numRef>
          </c:yVal>
          <c:bubbleSize>
            <c:numRef>
              <c:f>'[30082021 - Eloquens Best Practice Performance Matrix.xlsx]Graph Data'!$H$19</c:f>
              <c:numCache>
                <c:formatCode>0</c:formatCode>
                <c:ptCount val="1"/>
                <c:pt idx="0">
                  <c:v>7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A-7A0F-D841-A8FB-9CD0C318A955}"/>
            </c:ext>
          </c:extLst>
        </c:ser>
        <c:ser>
          <c:idx val="12"/>
          <c:order val="12"/>
          <c:tx>
            <c:strRef>
              <c:f>'[30082021 - Eloquens Best Practice Performance Matrix.xlsx]Graph Data'!$J$20</c:f>
              <c:strCache>
                <c:ptCount val="1"/>
                <c:pt idx="0">
                  <c:v>Mike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5.4701507186947895E-3"/>
                  <c:y val="5.456036745406769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Data'!$F$20</c:f>
              <c:numCache>
                <c:formatCode>0.00</c:formatCode>
                <c:ptCount val="1"/>
                <c:pt idx="0">
                  <c:v>0.77630123777822291</c:v>
                </c:pt>
              </c:numCache>
            </c:numRef>
          </c:xVal>
          <c:yVal>
            <c:numRef>
              <c:f>'[30082021 - Eloquens Best Practice Performance Matrix.xlsx]Graph Data'!$G$20</c:f>
              <c:numCache>
                <c:formatCode>0.00</c:formatCode>
                <c:ptCount val="1"/>
                <c:pt idx="0">
                  <c:v>0.83208736955661289</c:v>
                </c:pt>
              </c:numCache>
            </c:numRef>
          </c:yVal>
          <c:bubbleSize>
            <c:numRef>
              <c:f>'[30082021 - Eloquens Best Practice Performance Matrix.xlsx]Graph Data'!$H$20</c:f>
              <c:numCache>
                <c:formatCode>0</c:formatCode>
                <c:ptCount val="1"/>
                <c:pt idx="0">
                  <c:v>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C-7A0F-D841-A8FB-9CD0C318A955}"/>
            </c:ext>
          </c:extLst>
        </c:ser>
        <c:ser>
          <c:idx val="13"/>
          <c:order val="13"/>
          <c:tx>
            <c:strRef>
              <c:f>'[30082021 - Eloquens Best Practice Performance Matrix.xlsx]Graph Data'!$J$21</c:f>
              <c:strCache>
                <c:ptCount val="1"/>
                <c:pt idx="0">
                  <c:v>November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21390974327655032"/>
                  <c:y val="-4.0229190101237343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A0F-D841-A8FB-9CD0C318A9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F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'[30082021 - Eloquens Best Practice Performance Matrix.xlsx]Graph Data'!$F$21</c:f>
              <c:numCache>
                <c:formatCode>0.00</c:formatCode>
                <c:ptCount val="1"/>
                <c:pt idx="0">
                  <c:v>0.72215784187953924</c:v>
                </c:pt>
              </c:numCache>
            </c:numRef>
          </c:xVal>
          <c:yVal>
            <c:numRef>
              <c:f>'[30082021 - Eloquens Best Practice Performance Matrix.xlsx]Graph Data'!$G$21</c:f>
              <c:numCache>
                <c:formatCode>0.00</c:formatCode>
                <c:ptCount val="1"/>
                <c:pt idx="0">
                  <c:v>0.90541680164671312</c:v>
                </c:pt>
              </c:numCache>
            </c:numRef>
          </c:yVal>
          <c:bubbleSize>
            <c:numRef>
              <c:f>'[30082021 - Eloquens Best Practice Performance Matrix.xlsx]Graph Data'!$H$21</c:f>
              <c:numCache>
                <c:formatCode>0</c:formatCode>
                <c:ptCount val="1"/>
                <c:pt idx="0">
                  <c:v>7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E-7A0F-D841-A8FB-9CD0C318A9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60"/>
        <c:showNegBubbles val="0"/>
        <c:axId val="149178143"/>
        <c:axId val="149178543"/>
      </c:bubbleChart>
      <c:valAx>
        <c:axId val="149178143"/>
        <c:scaling>
          <c:orientation val="minMax"/>
          <c:max val="1.2"/>
          <c:min val="-0.1"/>
        </c:scaling>
        <c:delete val="1"/>
        <c:axPos val="b"/>
        <c:numFmt formatCode="0.00" sourceLinked="1"/>
        <c:majorTickMark val="out"/>
        <c:minorTickMark val="none"/>
        <c:tickLblPos val="nextTo"/>
        <c:crossAx val="149178543"/>
        <c:crosses val="autoZero"/>
        <c:crossBetween val="midCat"/>
      </c:valAx>
      <c:valAx>
        <c:axId val="149178543"/>
        <c:scaling>
          <c:orientation val="minMax"/>
          <c:max val="1.2"/>
          <c:min val="-0.1"/>
        </c:scaling>
        <c:delete val="1"/>
        <c:axPos val="l"/>
        <c:numFmt formatCode="0.00" sourceLinked="1"/>
        <c:majorTickMark val="out"/>
        <c:minorTickMark val="none"/>
        <c:tickLblPos val="nextTo"/>
        <c:crossAx val="149178143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4FE88-95C2-564F-840D-5E103F06AECC}" type="datetimeFigureOut">
              <a:rPr lang="fr-FR" smtClean="0"/>
              <a:t>31/08/2021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3E7B-7307-934A-8ADD-2DFF403B9D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37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0C3E7B-7307-934A-8ADD-2DFF403B9D0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81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3AA05E0-3092-1D4B-954E-CC13ECD6151B}" type="datetime1">
              <a:rPr lang="fr-FR" smtClean="0"/>
              <a:t>31/08/2021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30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59B006E-AFBD-9441-B7EE-75C15676CD71}" type="datetime1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981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E5FB189-1BE8-2941-93FA-639D39C6E685}" type="datetime1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385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BFB70829-D56C-EF4A-B8AA-620E4D420711}" type="datetime1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71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2A627265-6839-154C-8348-56774F5873D7}" type="datetime1">
              <a:rPr lang="fr-FR" smtClean="0"/>
              <a:t>31/08/2021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0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0ADF1D-4E2A-9541-98D8-E5B2262BDED1}" type="datetime1">
              <a:rPr lang="fr-FR" smtClean="0"/>
              <a:t>31/08/2021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8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A7611D4-7F62-FB4E-A64B-C9E1DF0EE26E}" type="datetime1">
              <a:rPr lang="fr-FR" smtClean="0"/>
              <a:t>31/08/2021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  <p:cxnSp>
        <p:nvCxnSpPr>
          <p:cNvPr id="6" name="Connecteur droit 5"/>
          <p:cNvCxnSpPr/>
          <p:nvPr userDrawn="1"/>
        </p:nvCxnSpPr>
        <p:spPr>
          <a:xfrm>
            <a:off x="2403118" y="280942"/>
            <a:ext cx="0" cy="5221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20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2ADDA-B8CC-2246-AF7A-F8F94DDDA41A}" type="datetime1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01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BED881-3CE1-1B47-8D4D-D24C211C3DF3}" type="datetime1">
              <a:rPr lang="fr-FR" smtClean="0"/>
              <a:t>31/08/2021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250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D5BFE14-6EC9-D34B-A29B-8F74EB7D0A30}" type="datetime1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4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FE9AD20-87C0-FA4C-BB64-0D7932DCE751}" type="datetime1">
              <a:rPr lang="fr-FR" smtClean="0"/>
              <a:t>31/08/2021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B393-2C74-7B4B-9881-926EFCDD819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8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  <a:p>
            <a:endParaRPr lang="fr-FR" dirty="0"/>
          </a:p>
        </p:txBody>
      </p:sp>
      <p:sp>
        <p:nvSpPr>
          <p:cNvPr id="8" name="TextBox 12"/>
          <p:cNvSpPr txBox="1"/>
          <p:nvPr userDrawn="1"/>
        </p:nvSpPr>
        <p:spPr>
          <a:xfrm>
            <a:off x="364698" y="6403375"/>
            <a:ext cx="2095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00" b="0" i="0" noProof="0" dirty="0">
                <a:solidFill>
                  <a:schemeClr val="bg1">
                    <a:lumMod val="50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Eloquens Inc. </a:t>
            </a:r>
            <a:r>
              <a:rPr lang="en-GB" sz="1000" b="0" i="0" baseline="0" noProof="0" dirty="0">
                <a:solidFill>
                  <a:schemeClr val="bg1">
                    <a:lumMod val="50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– September 2021</a:t>
            </a:r>
            <a:endParaRPr lang="en-GB" sz="1000" b="0" i="0" noProof="0" dirty="0">
              <a:solidFill>
                <a:schemeClr val="bg1">
                  <a:lumMod val="50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2403118" y="280942"/>
            <a:ext cx="0" cy="52213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Eloquens has 400 tools online! - adVentures Startup Studio">
            <a:extLst>
              <a:ext uri="{FF2B5EF4-FFF2-40B4-BE49-F238E27FC236}">
                <a16:creationId xmlns:a16="http://schemas.microsoft.com/office/drawing/2014/main" id="{29E6A17A-FC2A-E94F-BCC6-5D28CF3E8C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2" t="27856" r="6233" b="22516"/>
          <a:stretch/>
        </p:blipFill>
        <p:spPr bwMode="auto">
          <a:xfrm>
            <a:off x="338383" y="268220"/>
            <a:ext cx="1886892" cy="6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31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35C89CBE-1376-3B41-A066-6ED5056852E3}"/>
              </a:ext>
            </a:extLst>
          </p:cNvPr>
          <p:cNvGrpSpPr/>
          <p:nvPr/>
        </p:nvGrpSpPr>
        <p:grpSpPr>
          <a:xfrm>
            <a:off x="1027342" y="1840427"/>
            <a:ext cx="3258579" cy="3258579"/>
            <a:chOff x="6057036" y="1877937"/>
            <a:chExt cx="3476320" cy="347632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EF7E297-72F5-4F4A-9718-4BF2F3C6E69C}"/>
                </a:ext>
              </a:extLst>
            </p:cNvPr>
            <p:cNvSpPr/>
            <p:nvPr/>
          </p:nvSpPr>
          <p:spPr>
            <a:xfrm>
              <a:off x="6057036" y="1877937"/>
              <a:ext cx="3476311" cy="347631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C5D7DEE-780B-B345-83CA-A3C2AF6AE6DA}"/>
                </a:ext>
              </a:extLst>
            </p:cNvPr>
            <p:cNvSpPr/>
            <p:nvPr/>
          </p:nvSpPr>
          <p:spPr>
            <a:xfrm>
              <a:off x="6057037" y="1877938"/>
              <a:ext cx="1158773" cy="11587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3D9E6F3-C526-4A42-A9E9-ACCD6836E275}"/>
                </a:ext>
              </a:extLst>
            </p:cNvPr>
            <p:cNvSpPr/>
            <p:nvPr/>
          </p:nvSpPr>
          <p:spPr>
            <a:xfrm>
              <a:off x="7215810" y="1877938"/>
              <a:ext cx="1158773" cy="11587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CD649C2-33F7-1E40-9DA4-B0BC28853AA8}"/>
                </a:ext>
              </a:extLst>
            </p:cNvPr>
            <p:cNvSpPr/>
            <p:nvPr/>
          </p:nvSpPr>
          <p:spPr>
            <a:xfrm>
              <a:off x="8374583" y="1877938"/>
              <a:ext cx="1158773" cy="11587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3295A1B1-C1DD-414D-ADF8-E50A74536058}"/>
                </a:ext>
              </a:extLst>
            </p:cNvPr>
            <p:cNvSpPr/>
            <p:nvPr/>
          </p:nvSpPr>
          <p:spPr>
            <a:xfrm>
              <a:off x="6057037" y="3036711"/>
              <a:ext cx="1158773" cy="11587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D507E2F-BC42-2C45-90BD-6CDD35ECF291}"/>
                </a:ext>
              </a:extLst>
            </p:cNvPr>
            <p:cNvSpPr/>
            <p:nvPr/>
          </p:nvSpPr>
          <p:spPr>
            <a:xfrm>
              <a:off x="7215810" y="3036711"/>
              <a:ext cx="1158773" cy="11587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98E2DD4-4E0C-FF4D-BF7C-C26245CE4127}"/>
                </a:ext>
              </a:extLst>
            </p:cNvPr>
            <p:cNvSpPr/>
            <p:nvPr/>
          </p:nvSpPr>
          <p:spPr>
            <a:xfrm>
              <a:off x="8374583" y="3036711"/>
              <a:ext cx="1158773" cy="11587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15A424E-5270-7040-AF31-4A2AE8CF1CD7}"/>
                </a:ext>
              </a:extLst>
            </p:cNvPr>
            <p:cNvSpPr/>
            <p:nvPr/>
          </p:nvSpPr>
          <p:spPr>
            <a:xfrm>
              <a:off x="6057037" y="4195484"/>
              <a:ext cx="1158773" cy="11587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65FDA51-F135-8542-AF4D-B63539F769FC}"/>
                </a:ext>
              </a:extLst>
            </p:cNvPr>
            <p:cNvSpPr/>
            <p:nvPr/>
          </p:nvSpPr>
          <p:spPr>
            <a:xfrm>
              <a:off x="7215810" y="4195484"/>
              <a:ext cx="1158773" cy="11587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CFAFEDD-1952-1346-9B7D-A130E28A7924}"/>
                </a:ext>
              </a:extLst>
            </p:cNvPr>
            <p:cNvSpPr/>
            <p:nvPr/>
          </p:nvSpPr>
          <p:spPr>
            <a:xfrm>
              <a:off x="8374583" y="4195484"/>
              <a:ext cx="1158773" cy="11587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FEF77C4-39AB-D249-A915-5736BB1ED7AF}"/>
              </a:ext>
            </a:extLst>
          </p:cNvPr>
          <p:cNvSpPr/>
          <p:nvPr/>
        </p:nvSpPr>
        <p:spPr>
          <a:xfrm>
            <a:off x="355647" y="1256749"/>
            <a:ext cx="447035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Positioning of Author X Best Practices on Eloquens in the Matrix.</a:t>
            </a:r>
          </a:p>
        </p:txBody>
      </p:sp>
      <p:cxnSp>
        <p:nvCxnSpPr>
          <p:cNvPr id="64" name="Connecteur droit 63"/>
          <p:cNvCxnSpPr/>
          <p:nvPr/>
        </p:nvCxnSpPr>
        <p:spPr>
          <a:xfrm>
            <a:off x="2051198" y="6898580"/>
            <a:ext cx="0" cy="2665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65"/>
          <p:cNvSpPr txBox="1"/>
          <p:nvPr/>
        </p:nvSpPr>
        <p:spPr>
          <a:xfrm>
            <a:off x="2970850" y="6386475"/>
            <a:ext cx="67858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Source : Skyrocket &amp; Partners, Eloquens Inc., Timothée Demoures, Marketplace Data from XX/XX/XXX to XX/XX/XXXX,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FD3E203-A4FD-2A4C-8AD8-0E9C7DD0114E}"/>
              </a:ext>
            </a:extLst>
          </p:cNvPr>
          <p:cNvCxnSpPr/>
          <p:nvPr/>
        </p:nvCxnSpPr>
        <p:spPr>
          <a:xfrm>
            <a:off x="5079996" y="1004709"/>
            <a:ext cx="0" cy="47413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F38B33A-6556-D848-8702-3D9DDE9D2E85}"/>
              </a:ext>
            </a:extLst>
          </p:cNvPr>
          <p:cNvSpPr txBox="1"/>
          <p:nvPr/>
        </p:nvSpPr>
        <p:spPr>
          <a:xfrm>
            <a:off x="5485611" y="995584"/>
            <a:ext cx="2996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Corresponding Actions on Matrix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C63C0A-E8E5-DD47-8D96-3254C2E112A6}"/>
              </a:ext>
            </a:extLst>
          </p:cNvPr>
          <p:cNvSpPr txBox="1"/>
          <p:nvPr/>
        </p:nvSpPr>
        <p:spPr>
          <a:xfrm>
            <a:off x="344561" y="995584"/>
            <a:ext cx="382117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Best Practice Portfolio Performance Matrix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8647C9A-9757-0349-86F6-0F8C20CF88A4}"/>
              </a:ext>
            </a:extLst>
          </p:cNvPr>
          <p:cNvSpPr txBox="1"/>
          <p:nvPr/>
        </p:nvSpPr>
        <p:spPr>
          <a:xfrm>
            <a:off x="3273532" y="5227800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High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34887EC-6F5D-FA4F-8262-7D9C04419416}"/>
              </a:ext>
            </a:extLst>
          </p:cNvPr>
          <p:cNvSpPr txBox="1"/>
          <p:nvPr/>
        </p:nvSpPr>
        <p:spPr>
          <a:xfrm>
            <a:off x="2144301" y="5227800"/>
            <a:ext cx="998975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Average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843E9BF-7047-0C4A-82E4-646765365274}"/>
              </a:ext>
            </a:extLst>
          </p:cNvPr>
          <p:cNvSpPr txBox="1"/>
          <p:nvPr/>
        </p:nvSpPr>
        <p:spPr>
          <a:xfrm>
            <a:off x="1116673" y="5227800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Low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D6D66E3E-84C0-4E4D-A474-2F48DBC53A40}"/>
              </a:ext>
            </a:extLst>
          </p:cNvPr>
          <p:cNvSpPr/>
          <p:nvPr/>
        </p:nvSpPr>
        <p:spPr>
          <a:xfrm>
            <a:off x="5508923" y="1233798"/>
            <a:ext cx="89479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9 Categories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516431B-7C8B-0540-9DE1-7A3FD8D47272}"/>
              </a:ext>
            </a:extLst>
          </p:cNvPr>
          <p:cNvSpPr txBox="1"/>
          <p:nvPr/>
        </p:nvSpPr>
        <p:spPr>
          <a:xfrm rot="16200000">
            <a:off x="374031" y="2315445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High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1BDC8EB3-DE91-B94B-85FA-7930144F407A}"/>
              </a:ext>
            </a:extLst>
          </p:cNvPr>
          <p:cNvSpPr txBox="1"/>
          <p:nvPr/>
        </p:nvSpPr>
        <p:spPr>
          <a:xfrm rot="16200000">
            <a:off x="383011" y="3359934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Average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2302364A-133C-9C4C-9BF0-CF8E829326AC}"/>
              </a:ext>
            </a:extLst>
          </p:cNvPr>
          <p:cNvSpPr txBox="1"/>
          <p:nvPr/>
        </p:nvSpPr>
        <p:spPr>
          <a:xfrm rot="16200000">
            <a:off x="373736" y="4470227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Low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B7F2D240-B405-944D-8A82-FBF6A9381DAC}"/>
              </a:ext>
            </a:extLst>
          </p:cNvPr>
          <p:cNvGrpSpPr/>
          <p:nvPr/>
        </p:nvGrpSpPr>
        <p:grpSpPr>
          <a:xfrm>
            <a:off x="6118620" y="1853440"/>
            <a:ext cx="3258579" cy="3258579"/>
            <a:chOff x="6057036" y="1877937"/>
            <a:chExt cx="3476320" cy="3476320"/>
          </a:xfrm>
        </p:grpSpPr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99D5E61A-33AE-9748-B109-723847FA04D3}"/>
                </a:ext>
              </a:extLst>
            </p:cNvPr>
            <p:cNvSpPr/>
            <p:nvPr/>
          </p:nvSpPr>
          <p:spPr>
            <a:xfrm>
              <a:off x="6057036" y="1877937"/>
              <a:ext cx="3476311" cy="3476311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250A15DB-75FA-6046-A3BD-FCF9F5B23BF4}"/>
                </a:ext>
              </a:extLst>
            </p:cNvPr>
            <p:cNvSpPr/>
            <p:nvPr/>
          </p:nvSpPr>
          <p:spPr>
            <a:xfrm>
              <a:off x="6057037" y="1877938"/>
              <a:ext cx="1158773" cy="11587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NEW GEMS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Increase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Price</a:t>
              </a: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8C2F8318-BB0D-824D-B5B5-1CB3393252F2}"/>
                </a:ext>
              </a:extLst>
            </p:cNvPr>
            <p:cNvSpPr/>
            <p:nvPr/>
          </p:nvSpPr>
          <p:spPr>
            <a:xfrm>
              <a:off x="7215810" y="1877938"/>
              <a:ext cx="1158773" cy="11587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UNDERPRICED STARS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Optimize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Price</a:t>
              </a: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FA089C6A-DBD9-EA41-91B0-DB1A28A891E5}"/>
                </a:ext>
              </a:extLst>
            </p:cNvPr>
            <p:cNvSpPr/>
            <p:nvPr/>
          </p:nvSpPr>
          <p:spPr>
            <a:xfrm>
              <a:off x="8374583" y="1877938"/>
              <a:ext cx="1158773" cy="11587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STARS</a:t>
              </a:r>
            </a:p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Increase Traffic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F0BA9B7B-67F2-5F49-B827-4E7CDD537492}"/>
                </a:ext>
              </a:extLst>
            </p:cNvPr>
            <p:cNvSpPr/>
            <p:nvPr/>
          </p:nvSpPr>
          <p:spPr>
            <a:xfrm>
              <a:off x="6057037" y="3036711"/>
              <a:ext cx="1158773" cy="11587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RAW GEMS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Upgrade BP, Optimize Marketing and Increase Price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E8B9A7C6-2C50-9A47-884E-1127248D910F}"/>
                </a:ext>
              </a:extLst>
            </p:cNvPr>
            <p:cNvSpPr/>
            <p:nvPr/>
          </p:nvSpPr>
          <p:spPr>
            <a:xfrm>
              <a:off x="7215810" y="3036711"/>
              <a:ext cx="1158773" cy="11587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STRONG PERFORMERS</a:t>
              </a:r>
              <a:b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Optimize Marketing, Price and Upgrade BP</a:t>
              </a: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E2CE12CE-4197-1048-B336-0AAE0895A659}"/>
                </a:ext>
              </a:extLst>
            </p:cNvPr>
            <p:cNvSpPr/>
            <p:nvPr/>
          </p:nvSpPr>
          <p:spPr>
            <a:xfrm>
              <a:off x="8374583" y="3036711"/>
              <a:ext cx="1158773" cy="11587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HIGH POTENTIALS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Optimize Marketing</a:t>
              </a:r>
              <a:b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F5B979D8-0970-D846-9EB0-FC479F960DC1}"/>
                </a:ext>
              </a:extLst>
            </p:cNvPr>
            <p:cNvSpPr/>
            <p:nvPr/>
          </p:nvSpPr>
          <p:spPr>
            <a:xfrm>
              <a:off x="6057037" y="4195484"/>
              <a:ext cx="1158773" cy="11587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DOGS</a:t>
              </a:r>
              <a:b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Upgrade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BP or Kill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93DA81E7-4DC0-034C-891A-DA781FDB8D3D}"/>
                </a:ext>
              </a:extLst>
            </p:cNvPr>
            <p:cNvSpPr/>
            <p:nvPr/>
          </p:nvSpPr>
          <p:spPr>
            <a:xfrm>
              <a:off x="7215810" y="4195484"/>
              <a:ext cx="1158773" cy="11587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UNPOLISHED GEMS</a:t>
              </a:r>
              <a:b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Upgrade Marketing and Optimize BP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1F3F1D7F-36BC-6A43-B60D-64FB5729B806}"/>
                </a:ext>
              </a:extLst>
            </p:cNvPr>
            <p:cNvSpPr/>
            <p:nvPr/>
          </p:nvSpPr>
          <p:spPr>
            <a:xfrm>
              <a:off x="8374583" y="4195484"/>
              <a:ext cx="1158773" cy="11587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PANDORA’S BOX</a:t>
              </a:r>
              <a:b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Increase Marketing</a:t>
              </a:r>
            </a:p>
          </p:txBody>
        </p:sp>
      </p:grpSp>
      <p:sp>
        <p:nvSpPr>
          <p:cNvPr id="58" name="ZoneTexte 55">
            <a:extLst>
              <a:ext uri="{FF2B5EF4-FFF2-40B4-BE49-F238E27FC236}">
                <a16:creationId xmlns:a16="http://schemas.microsoft.com/office/drawing/2014/main" id="{9B0B6CE8-23DE-9E4B-A100-55BF827399D6}"/>
              </a:ext>
            </a:extLst>
          </p:cNvPr>
          <p:cNvSpPr txBox="1"/>
          <p:nvPr/>
        </p:nvSpPr>
        <p:spPr>
          <a:xfrm>
            <a:off x="2637898" y="332434"/>
            <a:ext cx="6886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Best Practice Portfolio Performance Matrix Template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0940A70-1132-F548-8F35-794F645004DF}"/>
              </a:ext>
            </a:extLst>
          </p:cNvPr>
          <p:cNvGrpSpPr/>
          <p:nvPr/>
        </p:nvGrpSpPr>
        <p:grpSpPr>
          <a:xfrm>
            <a:off x="1014472" y="5500888"/>
            <a:ext cx="3260152" cy="222369"/>
            <a:chOff x="940721" y="1470191"/>
            <a:chExt cx="3260152" cy="222369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7C58E48F-6F02-7846-813D-7F555F557599}"/>
                </a:ext>
              </a:extLst>
            </p:cNvPr>
            <p:cNvCxnSpPr>
              <a:cxnSpLocks/>
            </p:cNvCxnSpPr>
            <p:nvPr/>
          </p:nvCxnSpPr>
          <p:spPr>
            <a:xfrm>
              <a:off x="940721" y="1581226"/>
              <a:ext cx="326015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3CB7D98-EA56-4A48-8C89-38EFF777600D}"/>
                </a:ext>
              </a:extLst>
            </p:cNvPr>
            <p:cNvSpPr txBox="1"/>
            <p:nvPr/>
          </p:nvSpPr>
          <p:spPr>
            <a:xfrm>
              <a:off x="1837313" y="1470191"/>
              <a:ext cx="1475607" cy="2223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50"/>
                </a:lnSpc>
              </a:pPr>
              <a:r>
                <a:rPr lang="en-US" sz="1000" b="1" dirty="0"/>
                <a:t>Level of USD/ 100 Views</a:t>
              </a:r>
              <a:endParaRPr lang="en-US" sz="1000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EFE0728-D6A9-C34D-902F-6E9A82002184}"/>
              </a:ext>
            </a:extLst>
          </p:cNvPr>
          <p:cNvGrpSpPr/>
          <p:nvPr/>
        </p:nvGrpSpPr>
        <p:grpSpPr>
          <a:xfrm>
            <a:off x="396656" y="1840427"/>
            <a:ext cx="222369" cy="3274205"/>
            <a:chOff x="464504" y="1726067"/>
            <a:chExt cx="222369" cy="3274205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A330AD7-C019-A54A-8543-D7C098FFBEA9}"/>
                </a:ext>
              </a:extLst>
            </p:cNvPr>
            <p:cNvCxnSpPr>
              <a:cxnSpLocks/>
            </p:cNvCxnSpPr>
            <p:nvPr/>
          </p:nvCxnSpPr>
          <p:spPr>
            <a:xfrm>
              <a:off x="590926" y="1726067"/>
              <a:ext cx="0" cy="3274205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CE03868-2A19-5B4B-9ED0-AE7DFF4FB423}"/>
                </a:ext>
              </a:extLst>
            </p:cNvPr>
            <p:cNvSpPr txBox="1"/>
            <p:nvPr/>
          </p:nvSpPr>
          <p:spPr>
            <a:xfrm rot="16200000">
              <a:off x="-79066" y="3251434"/>
              <a:ext cx="1309509" cy="2223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50"/>
                </a:lnSpc>
              </a:pPr>
              <a:r>
                <a:rPr lang="en-US" sz="1000" b="1" dirty="0"/>
                <a:t>Level of Conversion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033CABA8-D5D0-F34D-85B8-6CC1C951371F}"/>
              </a:ext>
            </a:extLst>
          </p:cNvPr>
          <p:cNvSpPr txBox="1"/>
          <p:nvPr/>
        </p:nvSpPr>
        <p:spPr>
          <a:xfrm>
            <a:off x="8384397" y="5243446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High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E18DBC-8305-CC4C-9FAA-734FD23A787D}"/>
              </a:ext>
            </a:extLst>
          </p:cNvPr>
          <p:cNvSpPr txBox="1"/>
          <p:nvPr/>
        </p:nvSpPr>
        <p:spPr>
          <a:xfrm>
            <a:off x="7255166" y="5243446"/>
            <a:ext cx="998975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Average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86AAFC-0667-A74E-9EB9-BC1DC26E523C}"/>
              </a:ext>
            </a:extLst>
          </p:cNvPr>
          <p:cNvSpPr txBox="1"/>
          <p:nvPr/>
        </p:nvSpPr>
        <p:spPr>
          <a:xfrm>
            <a:off x="6227538" y="5243446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Low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8477E7-BA2C-6046-B738-65EC56A4BCB7}"/>
              </a:ext>
            </a:extLst>
          </p:cNvPr>
          <p:cNvSpPr txBox="1"/>
          <p:nvPr/>
        </p:nvSpPr>
        <p:spPr>
          <a:xfrm rot="16200000">
            <a:off x="5439740" y="2342380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High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A782B2-EF67-434D-B4BF-8047AC63DFC4}"/>
              </a:ext>
            </a:extLst>
          </p:cNvPr>
          <p:cNvSpPr txBox="1"/>
          <p:nvPr/>
        </p:nvSpPr>
        <p:spPr>
          <a:xfrm rot="16200000">
            <a:off x="5448720" y="3386869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Average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C3B62A-D3FE-9243-982B-AE96852CABEB}"/>
              </a:ext>
            </a:extLst>
          </p:cNvPr>
          <p:cNvSpPr txBox="1"/>
          <p:nvPr/>
        </p:nvSpPr>
        <p:spPr>
          <a:xfrm rot="16200000">
            <a:off x="5439445" y="4497162"/>
            <a:ext cx="909670" cy="2223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Low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7FDE1CD-EA16-714C-AC64-8019CB19CFC5}"/>
              </a:ext>
            </a:extLst>
          </p:cNvPr>
          <p:cNvGrpSpPr/>
          <p:nvPr/>
        </p:nvGrpSpPr>
        <p:grpSpPr>
          <a:xfrm>
            <a:off x="6125337" y="5527823"/>
            <a:ext cx="3260152" cy="222369"/>
            <a:chOff x="940721" y="1481480"/>
            <a:chExt cx="3260152" cy="222369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114CAE9-CBA2-B148-9795-5100F0983D88}"/>
                </a:ext>
              </a:extLst>
            </p:cNvPr>
            <p:cNvCxnSpPr>
              <a:cxnSpLocks/>
            </p:cNvCxnSpPr>
            <p:nvPr/>
          </p:nvCxnSpPr>
          <p:spPr>
            <a:xfrm>
              <a:off x="940721" y="1581226"/>
              <a:ext cx="3260152" cy="0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63DA154-EADD-3341-B302-415994A07492}"/>
                </a:ext>
              </a:extLst>
            </p:cNvPr>
            <p:cNvSpPr txBox="1"/>
            <p:nvPr/>
          </p:nvSpPr>
          <p:spPr>
            <a:xfrm>
              <a:off x="1794650" y="1481480"/>
              <a:ext cx="1543831" cy="2223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50"/>
                </a:lnSpc>
              </a:pPr>
              <a:r>
                <a:rPr lang="en-US" sz="1000" b="1" dirty="0"/>
                <a:t>Level of USD/ 100 Views</a:t>
              </a:r>
              <a:endParaRPr lang="en-US" sz="1000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C61D375-C772-9548-BED0-8A0FD88E36E8}"/>
              </a:ext>
            </a:extLst>
          </p:cNvPr>
          <p:cNvGrpSpPr/>
          <p:nvPr/>
        </p:nvGrpSpPr>
        <p:grpSpPr>
          <a:xfrm>
            <a:off x="5482971" y="1867362"/>
            <a:ext cx="222369" cy="3274205"/>
            <a:chOff x="485110" y="1726067"/>
            <a:chExt cx="222369" cy="3274205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78695CB-200F-B042-9017-BED178DDD565}"/>
                </a:ext>
              </a:extLst>
            </p:cNvPr>
            <p:cNvCxnSpPr>
              <a:cxnSpLocks/>
            </p:cNvCxnSpPr>
            <p:nvPr/>
          </p:nvCxnSpPr>
          <p:spPr>
            <a:xfrm>
              <a:off x="590926" y="1726067"/>
              <a:ext cx="0" cy="3274205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DD79F2E-5988-564F-A179-BAB1FB062E22}"/>
                </a:ext>
              </a:extLst>
            </p:cNvPr>
            <p:cNvSpPr txBox="1"/>
            <p:nvPr/>
          </p:nvSpPr>
          <p:spPr>
            <a:xfrm rot="16200000">
              <a:off x="-43705" y="3266189"/>
              <a:ext cx="1279999" cy="2223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950"/>
                </a:lnSpc>
              </a:pPr>
              <a:r>
                <a:rPr lang="en-US" sz="1000" b="1" dirty="0"/>
                <a:t>Level of Conversion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4FF7328-A09A-C74E-8714-7370775205A8}"/>
              </a:ext>
            </a:extLst>
          </p:cNvPr>
          <p:cNvGrpSpPr/>
          <p:nvPr/>
        </p:nvGrpSpPr>
        <p:grpSpPr>
          <a:xfrm>
            <a:off x="2192529" y="5877828"/>
            <a:ext cx="916679" cy="197793"/>
            <a:chOff x="4754029" y="5835980"/>
            <a:chExt cx="916679" cy="197793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F0AD3E6-5A74-FB43-9109-383C2C34EA96}"/>
                </a:ext>
              </a:extLst>
            </p:cNvPr>
            <p:cNvSpPr/>
            <p:nvPr/>
          </p:nvSpPr>
          <p:spPr>
            <a:xfrm>
              <a:off x="5472915" y="5835980"/>
              <a:ext cx="197793" cy="1977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1E3A470-6314-6F43-8A04-D240DC5A6805}"/>
                </a:ext>
              </a:extLst>
            </p:cNvPr>
            <p:cNvSpPr/>
            <p:nvPr/>
          </p:nvSpPr>
          <p:spPr>
            <a:xfrm>
              <a:off x="5257485" y="5857000"/>
              <a:ext cx="166263" cy="1662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669B4836-ED83-DF46-96F5-5FC09D6017C9}"/>
                </a:ext>
              </a:extLst>
            </p:cNvPr>
            <p:cNvSpPr/>
            <p:nvPr/>
          </p:nvSpPr>
          <p:spPr>
            <a:xfrm>
              <a:off x="5068950" y="5867565"/>
              <a:ext cx="139370" cy="1393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7B860EA5-1D87-774B-89C8-B042C79FEEEE}"/>
                </a:ext>
              </a:extLst>
            </p:cNvPr>
            <p:cNvSpPr/>
            <p:nvPr/>
          </p:nvSpPr>
          <p:spPr>
            <a:xfrm>
              <a:off x="4904464" y="5882089"/>
              <a:ext cx="115321" cy="115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C7133D0-C2D6-C14C-B3F0-F64FF53B905F}"/>
                </a:ext>
              </a:extLst>
            </p:cNvPr>
            <p:cNvSpPr/>
            <p:nvPr/>
          </p:nvSpPr>
          <p:spPr>
            <a:xfrm>
              <a:off x="4754029" y="5889790"/>
              <a:ext cx="101270" cy="10127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AEBFCAEA-FF76-9344-BD2F-F98201665A18}"/>
              </a:ext>
            </a:extLst>
          </p:cNvPr>
          <p:cNvSpPr txBox="1"/>
          <p:nvPr/>
        </p:nvSpPr>
        <p:spPr>
          <a:xfrm>
            <a:off x="1921747" y="6096103"/>
            <a:ext cx="1521353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50"/>
              </a:lnSpc>
            </a:pPr>
            <a:r>
              <a:rPr lang="en-US" sz="1000" b="1" dirty="0"/>
              <a:t>Size of Sales over Period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D2CD33-255D-5749-A189-2EF2A0C2B865}"/>
              </a:ext>
            </a:extLst>
          </p:cNvPr>
          <p:cNvSpPr txBox="1"/>
          <p:nvPr/>
        </p:nvSpPr>
        <p:spPr>
          <a:xfrm rot="16200000">
            <a:off x="733122" y="4791866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/>
              <a:t>1,2%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206FA8C-529C-6D45-82AE-82B05DA37301}"/>
              </a:ext>
            </a:extLst>
          </p:cNvPr>
          <p:cNvSpPr txBox="1"/>
          <p:nvPr/>
        </p:nvSpPr>
        <p:spPr>
          <a:xfrm rot="16200000">
            <a:off x="725818" y="1740198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/>
              <a:t>4,5%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4C2B679-6108-6845-AF98-2974EA475FE7}"/>
              </a:ext>
            </a:extLst>
          </p:cNvPr>
          <p:cNvSpPr txBox="1"/>
          <p:nvPr/>
        </p:nvSpPr>
        <p:spPr>
          <a:xfrm>
            <a:off x="1110293" y="5056284"/>
            <a:ext cx="61747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/>
              <a:t>4,2 USD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4E02794-70F4-894E-9F19-1AE0B2FC60EB}"/>
              </a:ext>
            </a:extLst>
          </p:cNvPr>
          <p:cNvSpPr txBox="1"/>
          <p:nvPr/>
        </p:nvSpPr>
        <p:spPr>
          <a:xfrm>
            <a:off x="3904705" y="5053225"/>
            <a:ext cx="6864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/>
              <a:t>70,2 USD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5E1BF2-662F-7D47-8095-EFABE040EBEC}"/>
              </a:ext>
            </a:extLst>
          </p:cNvPr>
          <p:cNvSpPr txBox="1"/>
          <p:nvPr/>
        </p:nvSpPr>
        <p:spPr>
          <a:xfrm rot="16200000">
            <a:off x="739790" y="3340547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/>
              <a:t>2,1%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7871C30-5562-0B46-9AB5-979BFE1544A4}"/>
              </a:ext>
            </a:extLst>
          </p:cNvPr>
          <p:cNvSpPr txBox="1"/>
          <p:nvPr/>
        </p:nvSpPr>
        <p:spPr>
          <a:xfrm>
            <a:off x="2300728" y="5050893"/>
            <a:ext cx="6864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/>
              <a:t>20,6 USD</a:t>
            </a:r>
          </a:p>
        </p:txBody>
      </p:sp>
      <p:graphicFrame>
        <p:nvGraphicFramePr>
          <p:cNvPr id="98" name="Chart 97">
            <a:extLst>
              <a:ext uri="{FF2B5EF4-FFF2-40B4-BE49-F238E27FC236}">
                <a16:creationId xmlns:a16="http://schemas.microsoft.com/office/drawing/2014/main" id="{8954C3B5-56A8-4948-942F-EC1BCEEDE8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680895"/>
              </p:ext>
            </p:extLst>
          </p:nvPr>
        </p:nvGraphicFramePr>
        <p:xfrm>
          <a:off x="483645" y="1452917"/>
          <a:ext cx="45847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582456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77771</TotalTime>
  <Words>173</Words>
  <Application>Microsoft Macintosh PowerPoint</Application>
  <PresentationFormat>A4 Paper (210x297 mm)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 Thin</vt:lpstr>
      <vt:lpstr>Open Sans</vt:lpstr>
      <vt:lpstr>Thème Office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Tim Demoures</dc:creator>
  <cp:lastModifiedBy>Sophie Gerlin</cp:lastModifiedBy>
  <cp:revision>1157</cp:revision>
  <cp:lastPrinted>2015-11-17T10:14:01Z</cp:lastPrinted>
  <dcterms:created xsi:type="dcterms:W3CDTF">2015-09-25T09:10:17Z</dcterms:created>
  <dcterms:modified xsi:type="dcterms:W3CDTF">2021-08-31T10:20:43Z</dcterms:modified>
</cp:coreProperties>
</file>